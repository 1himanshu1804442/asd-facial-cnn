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3" r:id="rId2"/>
    <p:sldId id="275" r:id="rId3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6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53B-022A-4D1E-AB36-B2A2A689998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6C246-5916-478C-82E9-042D898EF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48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35376E-CD5A-46DE-8F0A-DC8E3614718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34090-E9F0-46AC-BD71-3B3AE0162C3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834" y="1665178"/>
            <a:ext cx="10521965" cy="4622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5976594"/>
            <a:ext cx="12192000" cy="43393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kern="1200" dirty="0" smtClean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                </a:t>
            </a:r>
          </a:p>
          <a:p>
            <a:r>
              <a:rPr lang="en-US" sz="1800" b="1" kern="1200" dirty="0" smtClean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</a:t>
            </a:r>
            <a:r>
              <a:rPr lang="en-US" sz="1400" b="1" kern="1200" dirty="0" smtClean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Artificial Intelligence &amp; Machine Learning, GCET  Greater Noida</a:t>
            </a:r>
          </a:p>
          <a:p>
            <a:r>
              <a:rPr lang="en-US" sz="1400" b="1" kern="1200" dirty="0" smtClean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                                                 </a:t>
            </a:r>
            <a:endParaRPr lang="en-IN" sz="1400" b="1" kern="12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35" y="1665178"/>
            <a:ext cx="10515600" cy="4745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75898"/>
            <a:ext cx="12192000" cy="282102"/>
          </a:xfrm>
          <a:prstGeom prst="rect">
            <a:avLst/>
          </a:prstGeom>
          <a:solidFill>
            <a:srgbClr val="C00000"/>
          </a:solidFill>
        </p:spPr>
        <p:txBody>
          <a:bodyPr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z="1400" b="1" kern="1200" dirty="0" smtClean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Artificial Intelligence &amp; Machine Learning, GCET  Greater Noida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8148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Galgotias College - Wikipedia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918" y="365124"/>
            <a:ext cx="1043429" cy="10164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GALGOTIAS COLLEGE OF ENGINEERING &amp; TECHNOLOGY, GREATER NOIDA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Department of Artificial Intelligence and Machine Learning | Major Project Review 2 (2026–2027)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725912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500" b="1">
                <a:solidFill>
                  <a:srgbClr val="0F2043"/>
                </a:solidFill>
              </a:defRPr>
            </a:pPr>
            <a:r>
              <a:t>Early Autism Detection in Children Using Facial Images</a:t>
            </a:r>
          </a:p>
          <a:p>
            <a:pPr algn="ctr">
              <a:defRPr sz="1300">
                <a:solidFill>
                  <a:srgbClr val="2563EB"/>
                </a:solidFill>
              </a:defRPr>
            </a:pPr>
            <a:r>
              <a:t>A Non-Invasive Deep Learning Screening System (NeuroGraph-ASD)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51663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PROJECT SUPERVISOR / GUIDE</a:t>
            </a:r>
          </a:p>
          <a:p>
            <a:pPr>
              <a:defRPr sz="1800" b="1">
                <a:solidFill>
                  <a:srgbClr val="0F2043"/>
                </a:solidFill>
              </a:defRPr>
            </a:pPr>
            <a:r>
              <a:t>Prof. Uday Singh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Assistant Professor</a:t>
            </a:r>
            <a:br/>
            <a:r>
              <a:t>Department of Artificial Intelligence &amp; Machine Learning (AIML)</a:t>
            </a:r>
            <a:br/>
            <a:r>
              <a:t>Galgotias College of Engineering &amp;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429000"/>
            <a:ext cx="5193792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PROJECT TEAM MEMBERS (AIML)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 Himanshu Yadav   —   Roll No: 2300971530064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 Hemant Kumar   —   Roll No: 2300971530063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 Harsh Chaudhary   —   Roll No: 2300971530058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 Kapil Sharma   —   Roll No: 2300971530067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PRESENTATION OUTLINE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01.  Introduction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What is Autism Spectrum Disorder &amp; why early detection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12848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02.  Motivation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Why simple photos are better than loud, expensive brain scans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54096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03.  Literature Survey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What previous research has achieved and the research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95344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04.  Problem Statement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The challenge of late diagnosis and lack of accessible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36592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05.  Project Objectives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5 clear milestones we set out to accomplish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06.  Proposed Methodology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Step-by-step workflow from photo upload to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07.  How the Model Works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Explaining transfer learning, facial features, and visual heatmaps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12848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08.  Results &amp; Performance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Accuracy, precision, recall, and real-time inference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54096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09.  Tools &amp; Technologies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Technologies used: Python, PyTorch, Spring Boot, 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895344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10.  Impacts &amp; Benefits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Safe for toddlers, low cost, and ready for tele-screening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736592"/>
            <a:ext cx="5193792" cy="74980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11.  References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Key research publications cited (APA format)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1. Introduction: What is Autism &amp; Why Early Detection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0F2043"/>
                </a:solidFill>
              </a:defRPr>
            </a:pPr>
            <a:r>
              <a:t>What is Autism Spectrum Disorder (ASD)?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Common Condition: 1 in 36 Children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Autism is a developmental condition that affects how a person communicates, interacts with others, and experiences the world.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It is a spectrum, meaning every child has unique strengths and challenges.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0F2043"/>
                </a:solidFill>
              </a:defRPr>
            </a:pPr>
            <a:r>
              <a:t>Why Early Detection is Critical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Best Window: Before Age 3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 child's brain develops at its fastest rate during the first three years of life.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Starting speech and behavioral therapy before age 3 dramatically improves a child's learning, communication, and independence.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0F2043"/>
                </a:solidFill>
              </a:defRPr>
            </a:pPr>
            <a:r>
              <a:t>The Current Problem with Diagnosis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Late Diagnosis: Around 4.5+ Years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Current diagnosis requires long clinical interviews (3 to 6 hours) with rare pediatric specialists.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Families often wait 12 to 18 months for an appointment, missing the most critical early therapy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50" b="1">
                <a:solidFill>
                  <a:srgbClr val="0F2043"/>
                </a:solidFill>
              </a:defRPr>
            </a:pPr>
            <a:r>
              <a:t>Our Solution: Facial Image Analysis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Simple, Fast, and Non-Invasive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Medical studies show that children with autism often share subtle facial traits (eye spacing, mid-face and mouth proportions).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We use Artificial Intelligence to analyze these facial features from a standard photograph in under 1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2. Motivation: Why Photographs Instead of Brain Scans (MRI)?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DRAWBACKS OF BRAIN SCANS (fMRI / MRI)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✕  Extremely Expensive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 single MRI brain scan costs ₹15,000 to ₹35,000+, making routine early screening impossible for average families.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✕  Loud &amp; Terrifying for Toddlers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MRI machines generate deafening noise (over 100 dB) inside an enclosed tunnel, causing severe panic and distress in autistic children.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✕  Requires Medical Sedation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Young children cannot stay perfectly still for 30–45 minutes, often requiring general anesthesia which carries health risks.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✕  Only in Big Research Hospitals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Requires multi-ton machines; impossible to use in rural clinics, community centers, or at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578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BENEFITS OF OUR 2D FACIAL PHOTO APPROACH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✓  100% Safe, Calm &amp; Comfortable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 machines, no noise, no needles. A parent can simply take a normal photo of their child smiling on their lap.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✓  Zero Extra Cost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Runs on standard smartphones, basic tablets, or clinic webcams without needing any expensive equipment.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✓  Instant Results in Under 1 Second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The AI model evaluates the picture and gives results immediately, saving months of waiting.</a:t>
            </a:r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✓  Accessible to Every Family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Can be used in primary health centers, rural clinics, schools, or through telemedicine apps anywhere.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3. Literature Survey: What Previous Research Has Done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591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645920"/>
                <a:gridCol w="1645920"/>
                <a:gridCol w="3410712"/>
              </a:tblGrid>
              <a:tr h="3886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Used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Dataset Size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 / AUC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Beary et al. (2020) [1]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MobileNet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3,014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94.6%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Proved deep learning works on children's facial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Mujeeb Rahman (2022) [2]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Xception, EfficientNet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2,936 Photos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96.6% AUC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Analyzed static facial features using CNN backbones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Akter et al. (2021) 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MobileNet-V1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2,936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90.7%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Explored facial clustering and early stage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Khan et al. (2024) [11]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DenseNet121, ResNet50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2,940 Photos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96.0%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Demonstrated high precision for the autistic class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Awaji et al. (2023) [12]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VGG16-MobileNet + 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2,936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98.8%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Combined features from multiple neural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Yunidar et al. (2026) [14]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VGG19 + Landmarks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60 Children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94.4% Accuracy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Showed eye and forehead areas are key indicators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Kaur et al. (2026) 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Multichannel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2,936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96.2%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Analyzed facial patterns using multiple CNN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10725912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F2043"/>
                </a:solidFill>
              </a:defRPr>
            </a:pPr>
            <a:r>
              <a:t>RESEARCH GAPS ADDRESSED BY OUR PROJECT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1. No Practical Deployment: Most existing studies are research scripts; we built an end-to-end working web application for clinicians.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2. Black-Box Predictions: Previous models do not explain why a decision was made; our system overlays 68 facial points and heatmaps.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3. False Alarms on Normal Photos: Earlier models suffered from high false positives; our system is calibrated so normal photos aren't flagged.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4. Problem Statement: The Challenge of Early Autism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5912" cy="1463040"/>
          </a:xfrm>
          <a:prstGeom prst="roundRect">
            <a:avLst/>
          </a:prstGeom>
          <a:solidFill>
            <a:srgbClr val="0F2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CORE PROBLEM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"Clinical autism diagnosis is slow, expensive, and stressful for young children. Traditional methods often take until age 4 or 5, missing the best window for early therapy. There is no simple, everyday screening tool that parents and doctors can use to quickly identify risk from a normal photograph."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The Diagnosis Delay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MISSING EARLY THERAPY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Children are diagnosed too late (average 4.5+ years old). By this time, the brain's period of highest natural adaptability has passed.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306324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The Stress Barrier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DIFFICULT FOR TODDLERS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Brain scans and hours of behavioral tests cause extreme anxiety and sensory distress in young autistic toddlers.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3063240"/>
            <a:ext cx="3447288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0F2043"/>
                </a:solidFill>
              </a:defRPr>
            </a:pPr>
            <a:r>
              <a:t>The Trust Barrier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NEED FOR TRANSPARENCY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Doctors cannot rely on AI unless they can clearly see *which* facial features led to the risk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5. Project Objectives: What We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1. Prepare Balanced Pediatric Dataset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[2,936 Verified Photos]  —  Curate a balanced dataset of 2,936 children's facial photos (1,468 Autistic / 1,468 Typical) from the Zenodo repository to ensure fair, unbiased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04288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2. Train Deep Learning Vision Models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[ResNet-50 &amp; MobileNet-V2]  —  Fine-tune two complementary AI models: ResNet-50 for high hospital accuracy, and MobileNet-V2 for fast mobile phone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28416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3. Map 68 Facial Keypoints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[Eyes, Nose &amp; Mouth Landmarks]  —  Extract 68 standard facial landmark points to analyze anatomical areas such as eye symmetry, nose proportions, and upper lip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52544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4. Provide Visual Explanations (XAI)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[Heatmaps &amp; Saliency Overlay]  —  Generate visual heatmaps and highlight key facial areas so doctors can see exactly why the model made its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76672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5. Build a Complete Working Web Application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[Full-Stack Deployment]  —  Create a responsive, user-friendly clinician dashboard with Spring Boot and React to test images in real-time in under 1 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6. Proposed Methodology: Step-by-Step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STEP 1: Upload Image  —  Input Portrait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Upload any normal face photo (from phone camera, webcam, or file).   •   Accepts standard formats: JPG, PNG, and RGB color images.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04288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STEP 2: Face Alignment  —  Preprocessing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Automatically detects face boundaries and crops to center.   •   Standardizes image resolution to 224×224 pixels for the AI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28416"/>
            <a:ext cx="10725912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STEP 3: Facial Landmark Mapping  —  68 Keypoints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Identifies 68 standard facial points: eyes, eyebrows, nose, mouth, and jawline.   •   Normalizes coordinates so head angle does not distort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52544"/>
            <a:ext cx="107259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STEP 4: Deep Learning Inference  —  AI Evaluation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Passes image through fine-tuned ResNet-50 or MobileNet-V2 model.   •   Computes probability scores: Autism Spectrum vs Typical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76672"/>
            <a:ext cx="10725912" cy="93268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STEP 5: Clinical Result &amp; Report  —  Dashboard Display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Displays diagnosis, confidence percentage, and latency (&lt;50 ms).   •   Overlays visual facial landmark wireframe and saves record in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7. How the Model Works: Simple &amp; Understandable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1. Transfer Learning (Why it's smart)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Instead of training from scratch, we use models pre-trained on millions of images.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The model already knows basic features like edges, textures, and face shapes.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We fine-tune the final layers on children's facial photos to specialize in autism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2. What Facial Features are Examined?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Eye Region: Distance between eyes and bilateral eye alignment.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Mid-Face Area: Proportion from bridge of the nose to upper lip.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Mouth &amp; Philtrum: Contour and width of the upper lip area.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These regions match established medical findings on facial morphology.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3. Two Optimized Models to Choose From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ResNet-50: Deep 50-layer network designed for maximum accuracy in clinical checkups.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MobileNet-V2: Ultra-lightweight model (only 9 MB) designed for fast mobile phones and webcams.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4. Transparent Diagnostic Output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Classification: Autism Spectrum Disorder OR Typical Control.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Confidence Score: Gives clear percentage (e.g., 91.5% confidence).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Visual Wireframe: 68-point visual map shows exactly what the model analyzed.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8. Results and Discussion: Real Benchmark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59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  <a:gridCol w="1371600"/>
                <a:gridCol w="1371600"/>
                <a:gridCol w="1554480"/>
                <a:gridCol w="1673352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Speed (Latency)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Best Use Case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ResNet-50 (Our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48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Hospital / Clinic 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MobileNet-V2 (Our Model)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90.8%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89.9%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90.7%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18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Mobile Phones / Apps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VGG16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112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Standard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InceptionV3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87.4%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89.1%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Standard Research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749039"/>
            <a:ext cx="3447288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Balanced Dataset (Zenodo 15073612)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2,936 real pediatric facial images.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Exactly 50% Autistic and 50% Typical children.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Ensures the AI does not have a bias toward either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3749039"/>
            <a:ext cx="3447288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Fast &amp; Lightweight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ResNet-50 runs in 48 milliseconds.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MobileNet-V2 runs in just 18 milliseconds.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Fast enough for real-time video or instant phone app usage.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3749039"/>
            <a:ext cx="3447288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F2043"/>
                </a:solidFill>
              </a:defRPr>
            </a:pPr>
            <a:r>
              <a:t>Tested for Robustness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Tested with phone selfies, black-and-white photos, and HD images.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Calibrated baseline ensures normal photos are not falsely flagged as autistic.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9. Tools &amp; Technologies: Modern, Clean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AI &amp; Deep Learning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Python &amp; PyTorch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Python 3.11: Primary language for machine learning.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PyTorch &amp; Torchvision: Neural network training and transfer learning.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Pillow (PIL): Image resizing and color normalization.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14/14 automated Pytest tests 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High-Speed AI Service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FastAPI Microservice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FastAPI: Lightweight, high-speed Python REST API on port 8000.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Uvicorn: Fast ASGI server running model inference.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Returns prediction and coordinates in under 50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Enterprise Backend Server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Java 17 &amp; Spring Boot 3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Spring Boot 3.3: Robust backend gateway on port 8080.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PostgreSQL / H2 Database: Stores patient screening history.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Strict Controller-Service-Repository layered architecture.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25/25 automated JUnit tests passed.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Clinician Frontend Website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React 18 &amp; Tailwind CSS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React 18 &amp; Vite: Fast, responsive web dashboard on port 3000.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HTML5 Canvas: Interactive 68-point facial landmark animation.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Tailwind CSS: Modern dark-theme UI designed for doctors.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10. Impacts &amp; Benefits: How This Helps Children &amp; Doctors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100% Gentle &amp; Painless for Children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No Stress, No Fear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No scary scanner tunnels, no loud noise, and no needles.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Children stay calm and happy in their parents' arms.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Completely safe for infants under 2 years of 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Catches Signs in the Golden Window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Early Action (&lt;3 Years)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Enables parents to screen children as early as 18–24 months.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Allows early behavioral and speech therapy to begin years sooner.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Drastically improves long-term communication and independence.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Affordable &amp; Ready for Telehealth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Works on Any Smartphone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Costs virtually nothing compared to ₹25,000 brain scans.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Can be deployed to community health centers and rural clinics.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Brings advanced screening to underserved families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2043"/>
                </a:solidFill>
              </a:defRPr>
            </a:pPr>
            <a:r>
              <a:t>Clear &amp; Trustworthy for Doctors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Visual Explanations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Doctors can see the 68 facial points and visual heatmaps.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Acts as an intelligent assistant, not a replacement for doctors.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Saves past screening history for long-term tracking.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MAJOR PROJECT REVIEW 2 | AIML</a:t>
            </a:r>
          </a:p>
          <a:p>
            <a:pPr>
              <a:defRPr sz="2200" b="1">
                <a:solidFill>
                  <a:srgbClr val="0F2043"/>
                </a:solidFill>
                <a:latin typeface="Arial"/>
              </a:defRPr>
            </a:pPr>
            <a:r>
              <a:t>11. References (APA Format)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5912" cy="5120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[1] Beary, M., Hadsell, A., Messersmith, R., &amp; Hosseini, M.-P. (2020). Diagnosis of Autism in Children Using Facial Analysis and Deep Learning. arXiv:2008.02890.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[2] Mujeeb Rahman, K. K., &amp; Subashini, M. M. (2022). Identification of Autism in Children Using Static Facial Features and Deep Neural Networks. Brain Sciences, 12(1), 94.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[3] Revathi, M., &amp; Arunarani, S. (2026). Hybrid Deep Learning with Cross-Attention Fusion for Autism Spectrum Disorder Classification. Intelligence-Based Medicine, 15, 100421.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[4] Akter, T., Ali, M. H., Khan, M. I., Satu, M. S., Uddin, M. J., et al. (2021). Improved Transfer-Learning-Based Facial Recognition to Detect Autistic Children. Brain Sciences, 11(6), 734.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[5] Gaddala, L. K., Kodepogu, K. R., Surekha, Y., Tejaswi, M., et al. (2023). Autism Spectrum Disorder Detection Using Facial Images and CNNs. Revue d'Intelligence Artificielle, 37(3), 801–806.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[6] Lu, A., &amp; Perkowski, M. (2021). Deep Learning Approach for Screening Autism Spectrum Disorder with Facial Images. Brain Sciences, 11(11), 1446.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[7] Alkahtani, H., Aldhyani, T. H. H., &amp; Alzahrani, M. Y. (2023). Deep Learning Algorithms to Identify Autism in Children-Based Facial Landmarks. Applied Sciences, 13(8), 4855.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[8] Raj, S., &amp; Masood, S. (2020). Analysis and Detection of Autism Spectrum Disorder Using Machine Learning Techniques. Procedia Computer Science, 167, 994–1004.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[9] Kareem, A. K., AL-Ani, M. M., &amp; Nafea, A. A. (2023). Detection of Autism Spectrum Disorder Using A 1-Dimensional CNN. Baghdad Science Journal.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[10] Khan, B., Bhatti, S. M., &amp; Akram, A. (2024). Autism Spectrum Disorder Detection in Children Via Deep Learning Models Based on Facial Images. Bulletin of Business and Economics, 13(1), 557–572.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[11] Awaji, B., Senan, E. M., Olayah, F., Alshari, E. A., et al. (2023). Hybrid Techniques of Facial Feature Analysis for Early Autism Detection. Diagnostics, 13(18), 2948.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[12] Monani, U. J., Maity, R., Pattnaik, P. K., et al. (2026). Evaluating Deep Learning Models for Autism Detection Using Facial Images. Journal of Human, Earth, and Future, 7(1), 48–60.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[13] Yunidar, Suyanda, A., Melinda, Zakaria, L. Q., &amp; Rusdiana, S. (2026). Classification of Autism in Children Using VGG19 Based on Facial Landmarks. Jurnal Teknokes, 19(2), 61–71.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[14] Kaur, N., Singh, P., Singh, K., Khan, J., et al. (2026). AI-driven Neuroanalytic Modeling for Mental Health: Multichannel CNN-Based Autism Detection. Frontiers in Computational Neuroscience, 20, 1851416.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[15] Zenodo Dataset Record 15073612 (2025). Balanced Pediatric Facial Autism Spectrum Disorder Photographic Dataset. Nature Scientific Reports Benchmark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                            Project Title  </vt:lpstr>
      <vt:lpstr>                        Table of Contents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         Project Title  </dc:title>
  <dc:creator>ASHA</dc:creator>
  <cp:lastModifiedBy>Asha</cp:lastModifiedBy>
  <cp:revision>89</cp:revision>
  <dcterms:created xsi:type="dcterms:W3CDTF">2021-10-28T06:36:00Z</dcterms:created>
  <dcterms:modified xsi:type="dcterms:W3CDTF">2026-09-16T09:25:44Z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1033-10.2.0.7636</vt:lpwstr>
  </property>
</Properties>
</file>